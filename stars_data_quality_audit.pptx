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011680"/>
            <a:ext cx="9966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E8EAF0"/>
                </a:solidFill>
              </a:rPr>
              <a:t>Stars Catalog — Data Quality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38328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9096A8"/>
                </a:solidFill>
              </a:rPr>
              <a:t>Where is the data trustworthy, thin, or incomplete?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9768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9096A8"/>
                </a:solidFill>
              </a:rPr>
              <a:t>For data practitioners  ·  972 host stars  ·  5 analytical columns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8EAF0"/>
                </a:solidFill>
              </a:rPr>
              <a:t>The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300" b="1">
                <a:solidFill>
                  <a:srgbClr val="E8EAF0"/>
                </a:solidFill>
              </a:rPr>
              <a:t>Source:  stars.csv — NASA Exoplanet Archive stellar catalog</a:t>
            </a:r>
          </a:p>
          <a:p>
            <a:pPr algn="l"/>
            <a:r>
              <a:rPr sz="1300" b="0">
                <a:solidFill>
                  <a:srgbClr val="E8EAF0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E8EAF0"/>
                </a:solidFill>
              </a:rPr>
              <a:t>  972 host stars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E8EAF0"/>
                </a:solidFill>
              </a:rPr>
              <a:t>  10 columns total: identifiers, stellar properties, positional data, num_planets</a:t>
            </a:r>
          </a:p>
          <a:p>
            <a:pPr algn="l"/>
            <a:r>
              <a:rPr sz="1300" b="0">
                <a:solidFill>
                  <a:srgbClr val="E8EAF0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E8EAF0"/>
                </a:solidFill>
              </a:rPr>
              <a:t>Columns audited (analytically important stellar properties):</a:t>
            </a:r>
          </a:p>
          <a:p>
            <a:pPr algn="l"/>
            <a:r>
              <a:rPr sz="1300" b="0">
                <a:solidFill>
                  <a:srgbClr val="E8EAF0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100" b="1">
                <a:solidFill>
                  <a:srgbClr val="FFD700"/>
                </a:solidFill>
              </a:rPr>
              <a:t>  metallicity_fe_h      </a:t>
            </a:r>
            <a:r>
              <a:rPr sz="1100">
                <a:solidFill>
                  <a:srgbClr val="E8EAF0"/>
                </a:solidFill>
              </a:rPr>
              <a:t>Stellar metallicity [Fe/H]         </a:t>
            </a:r>
            <a:r>
              <a:rPr sz="1000">
                <a:solidFill>
                  <a:srgbClr val="9096A8"/>
                </a:solidFill>
              </a:rPr>
              <a:t>  //  Requires spectroscopy  →  most expensive to measure</a:t>
            </a:r>
          </a:p>
          <a:p>
            <a:pPr algn="l">
              <a:spcBef>
                <a:spcPts val="500"/>
              </a:spcBef>
            </a:pPr>
            <a:r>
              <a:rPr sz="1100" b="1">
                <a:solidFill>
                  <a:srgbClr val="FFD700"/>
                </a:solidFill>
              </a:rPr>
              <a:t>  teff_k                </a:t>
            </a:r>
            <a:r>
              <a:rPr sz="1100">
                <a:solidFill>
                  <a:srgbClr val="E8EAF0"/>
                </a:solidFill>
              </a:rPr>
              <a:t>Effective temperature (K)          </a:t>
            </a:r>
            <a:r>
              <a:rPr sz="1000">
                <a:solidFill>
                  <a:srgbClr val="9096A8"/>
                </a:solidFill>
              </a:rPr>
              <a:t>  //  Can be estimated photometrically</a:t>
            </a:r>
          </a:p>
          <a:p>
            <a:pPr algn="l">
              <a:spcBef>
                <a:spcPts val="500"/>
              </a:spcBef>
            </a:pPr>
            <a:r>
              <a:rPr sz="1100" b="1">
                <a:solidFill>
                  <a:srgbClr val="FFD700"/>
                </a:solidFill>
              </a:rPr>
              <a:t>  distance_pc           </a:t>
            </a:r>
            <a:r>
              <a:rPr sz="1100">
                <a:solidFill>
                  <a:srgbClr val="E8EAF0"/>
                </a:solidFill>
              </a:rPr>
              <a:t>Distance (parsecs)                 </a:t>
            </a:r>
            <a:r>
              <a:rPr sz="1000">
                <a:solidFill>
                  <a:srgbClr val="9096A8"/>
                </a:solidFill>
              </a:rPr>
              <a:t>  //  Parallax-based; widely available from Gaia</a:t>
            </a:r>
          </a:p>
          <a:p>
            <a:pPr algn="l">
              <a:spcBef>
                <a:spcPts val="500"/>
              </a:spcBef>
            </a:pPr>
            <a:r>
              <a:rPr sz="1100" b="1">
                <a:solidFill>
                  <a:srgbClr val="FFD700"/>
                </a:solidFill>
              </a:rPr>
              <a:t>  radius_solar          </a:t>
            </a:r>
            <a:r>
              <a:rPr sz="1100">
                <a:solidFill>
                  <a:srgbClr val="E8EAF0"/>
                </a:solidFill>
              </a:rPr>
              <a:t>Stellar radius (R☉)                </a:t>
            </a:r>
            <a:r>
              <a:rPr sz="1000">
                <a:solidFill>
                  <a:srgbClr val="9096A8"/>
                </a:solidFill>
              </a:rPr>
              <a:t>  //  Can be estimated from T_eff and luminosity</a:t>
            </a:r>
          </a:p>
          <a:p>
            <a:pPr algn="l">
              <a:spcBef>
                <a:spcPts val="500"/>
              </a:spcBef>
            </a:pPr>
            <a:r>
              <a:rPr sz="1100" b="1">
                <a:solidFill>
                  <a:srgbClr val="FFD700"/>
                </a:solidFill>
              </a:rPr>
              <a:t>  mass_solar            </a:t>
            </a:r>
            <a:r>
              <a:rPr sz="1100">
                <a:solidFill>
                  <a:srgbClr val="E8EAF0"/>
                </a:solidFill>
              </a:rPr>
              <a:t>Stellar mass (M☉)                  </a:t>
            </a:r>
            <a:r>
              <a:rPr sz="1000">
                <a:solidFill>
                  <a:srgbClr val="9096A8"/>
                </a:solidFill>
              </a:rPr>
              <a:t>  //  Estimated from stellar models</a:t>
            </a:r>
          </a:p>
          <a:p>
            <a:pPr algn="l"/>
            <a:r>
              <a:rPr sz="1300" b="0">
                <a:solidFill>
                  <a:srgbClr val="E8EAF0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9096A8"/>
                </a:solidFill>
              </a:rPr>
              <a:t>Left out:  star_id, star_name, ra_deg, dec_deg, num_planets — 0 % missing, not analytically risky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8EAF0"/>
                </a:solidFill>
              </a:rPr>
              <a:t>Story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9096A8"/>
                </a:solidFill>
              </a:rPr>
              <a:t>Completeness is uneven and concentrated: a single column (metallicity_fe_h) accounts for nearly all missingness, and stars missing that column are data-sparse across the 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5740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</a:rPr>
              <a:t>A.  Missingness is concentrated in metallicity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0487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8EAF0"/>
                </a:solidFill>
              </a:rPr>
              <a:t>metallicity_fe_h is missing 6.2 % of the time vs. &lt;2 % for all other columns. Gap reflects measurement cost: metallicity requires high-resolution spectroscopy; temperature, mass, and radius can be estimated photometrically.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ECDC4"/>
                </a:solidFill>
              </a:rPr>
              <a:t>B.  Missing metallicity predicts missing everything else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2219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8EAF0"/>
                </a:solidFill>
              </a:rPr>
              <a:t>Stars without metallicity show dramatically elevated missingness across all other columns: teff_k is missing 25 % in that group (vs. 0.1 % otherwise), radius_solar 11.7 % (vs. 0.2 %), distance_pc 10.0 % (vs. 0.7 %). These are data-sparse stars, not random gaps.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9204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D700"/>
                </a:solidFill>
              </a:rPr>
              <a:t>C.  Distance does not explain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23951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8EAF0"/>
                </a:solidFill>
              </a:rPr>
              <a:t>Median distance for stars with vs. without metallicity is nearly identical (~255 pc vs. ~290 pc), ruling out observational depth as the driver. The gap is about which stars received spectroscopic follow-up.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8EAF0"/>
                </a:solidFill>
              </a:rPr>
              <a:t>Panel 1 — Column Completeness Profile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7724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21040" y="1097280"/>
            <a:ext cx="3566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Key findings</a:t>
            </a:r>
          </a:p>
          <a:p>
            <a:pPr algn="l"/>
            <a:r>
              <a:rPr sz="1300" b="0">
                <a:solidFill>
                  <a:srgbClr val="E8EAF0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FF6B6B"/>
                </a:solidFill>
              </a:rPr>
              <a:t>metallicity_fe_h  →  93.8% complete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9096A8"/>
                </a:solidFill>
              </a:rPr>
              <a:t>Clear worst offender — 4× worse than nearest peer</a:t>
            </a:r>
          </a:p>
          <a:p>
            <a:pPr algn="l"/>
            <a:r>
              <a:rPr sz="1300" b="0">
                <a:solidFill>
                  <a:srgbClr val="E8EAF0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E8EAF0"/>
                </a:solidFill>
              </a:rPr>
              <a:t>teff_k  →  98.4% complete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E8EAF0"/>
                </a:solidFill>
              </a:rPr>
              <a:t>distance_pc  →  98.8% complete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E8EAF0"/>
                </a:solidFill>
              </a:rPr>
              <a:t>radius_solar  →  99.1% complete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E8EAF0"/>
                </a:solidFill>
              </a:rPr>
              <a:t>mass_solar  →  99.4% complete</a:t>
            </a:r>
          </a:p>
          <a:p>
            <a:pPr algn="l"/>
            <a:r>
              <a:rPr sz="1300" b="0">
                <a:solidFill>
                  <a:srgbClr val="E8EAF0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9096A8"/>
                </a:solidFill>
              </a:rPr>
              <a:t>All other columns ≥ 98.4% complete</a:t>
            </a:r>
          </a:p>
          <a:p>
            <a:pPr algn="l"/>
            <a:r>
              <a:rPr sz="1300" b="0">
                <a:solidFill>
                  <a:srgbClr val="E8EAF0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9096A8"/>
                </a:solidFill>
              </a:rPr>
              <a:t>Sorted worst → best (metallicity at bottom)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8EAF0"/>
                </a:solidFill>
              </a:rPr>
              <a:t>Panel 2 — Conditional Missingness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7724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21040" y="1097280"/>
            <a:ext cx="3566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300" b="1">
                <a:solidFill>
                  <a:srgbClr val="FFD700"/>
                </a:solidFill>
              </a:rPr>
              <a:t>Key findings</a:t>
            </a:r>
          </a:p>
          <a:p>
            <a:pPr algn="l"/>
            <a:r>
              <a:rPr sz="1300" b="0">
                <a:solidFill>
                  <a:srgbClr val="E8EAF0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FF6B6B"/>
                </a:solidFill>
              </a:rPr>
              <a:t>Stars missing metallicity (n=60):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E8EAF0"/>
                </a:solidFill>
              </a:rPr>
              <a:t>  teff_k        →  25%  missing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E8EAF0"/>
                </a:solidFill>
              </a:rPr>
              <a:t>  radius_solar  →  11.7%  missing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E8EAF0"/>
                </a:solidFill>
              </a:rPr>
              <a:t>  distance_pc   →  10.0%  missing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E8EAF0"/>
                </a:solidFill>
              </a:rPr>
              <a:t>  mass_solar    →  6.7%  missing</a:t>
            </a:r>
          </a:p>
          <a:p>
            <a:pPr algn="l"/>
            <a:r>
              <a:rPr sz="1300" b="0">
                <a:solidFill>
                  <a:srgbClr val="E8EAF0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4ECDC4"/>
                </a:solidFill>
              </a:rPr>
              <a:t>Stars with metallicity (n=912):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E8EAF0"/>
                </a:solidFill>
              </a:rPr>
              <a:t>  teff_k        →  0.1%  missing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E8EAF0"/>
                </a:solidFill>
              </a:rPr>
              <a:t>  All others    ≤  0.7%  missing</a:t>
            </a:r>
          </a:p>
          <a:p>
            <a:pPr algn="l"/>
            <a:r>
              <a:rPr sz="1300" b="0">
                <a:solidFill>
                  <a:srgbClr val="E8EAF0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9096A8"/>
                </a:solidFill>
              </a:rPr>
              <a:t>Median distance similar (~255 vs ~290 pc)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9096A8"/>
                </a:solidFill>
              </a:rPr>
              <a:t>→ distance is not the driver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8EAF0"/>
                </a:solidFill>
              </a:rPr>
              <a:t>Risks &amp; 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D700"/>
                </a:solidFill>
              </a:rPr>
              <a:t>⚑  Small absent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89888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8EAF0"/>
                </a:solidFill>
              </a:rPr>
              <a:t>Only 60 stars (6.2%) lack metallicity — conditional rates have wider uncertainty. Flag n on Panel 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7568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D700"/>
                </a:solidFill>
              </a:rPr>
              <a:t>⚑  Co-missingness vs. causality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14016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8EAF0"/>
                </a:solidFill>
              </a:rPr>
              <a:t>Missing metallicity correlates with, but does not cause, missing other columns. Frame as 'data-sparse stars', not 'metallicity gap causes other gaps'.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9981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D700"/>
                </a:solidFill>
              </a:rPr>
              <a:t>⚑  metallicity_fe_h outlier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38144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8EAF0"/>
                </a:solidFill>
              </a:rPr>
              <a:t>6.2% vs. &lt;2% for peers is striking — could be a pipeline artifact. Flag as 'investigate before using as feature' rather than 'don't use'.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2394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D700"/>
                </a:solidFill>
              </a:rPr>
              <a:t>⚑  num_planets completeness masks planet-data gaps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62272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8EAF0"/>
                </a:solidFill>
              </a:rPr>
              <a:t>This audit covers stellar columns only. Planet-level data quality is not captured here.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4807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D700"/>
                </a:solidFill>
              </a:rPr>
              <a:t>⚑  Snapshot in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8640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8EAF0"/>
                </a:solidFill>
              </a:rPr>
              <a:t>stars.csv is a point-in-time pull. Stars missing data may gain measurements as surveys continue.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8EAF0"/>
                </a:solidFill>
              </a:rP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400" b="1">
                <a:solidFill>
                  <a:srgbClr val="FFD700"/>
                </a:solidFill>
              </a:rPr>
              <a:t>Deliverables</a:t>
            </a:r>
          </a:p>
          <a:p>
            <a:pPr algn="l"/>
            <a:r>
              <a:rPr sz="1300" b="0">
                <a:solidFill>
                  <a:srgbClr val="E8EAF0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E8EAF0"/>
                </a:solidFill>
              </a:rPr>
              <a:t>  design_diagram.png  —  two-panel matplotlib figure (dark theme, 150 dpi)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E8EAF0"/>
                </a:solidFill>
              </a:rPr>
              <a:t>  stars_data_quality_audit.pptx  —  this 7-slide narrative deck</a:t>
            </a:r>
          </a:p>
          <a:p>
            <a:pPr algn="l"/>
            <a:r>
              <a:rPr sz="1300" b="0">
                <a:solidFill>
                  <a:srgbClr val="E8EAF0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1">
                <a:solidFill>
                  <a:srgbClr val="FFD700"/>
                </a:solidFill>
              </a:rPr>
              <a:t>Methodology</a:t>
            </a:r>
          </a:p>
          <a:p>
            <a:pPr algn="l"/>
            <a:r>
              <a:rPr sz="1300" b="0">
                <a:solidFill>
                  <a:srgbClr val="E8EAF0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E8EAF0"/>
                </a:solidFill>
              </a:rPr>
              <a:t>  •  Loaded stars.csv (972 rows, 10 columns) with pandas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E8EAF0"/>
                </a:solidFill>
              </a:rPr>
              <a:t>  •  Computed per-column missingness rates and present-pct across 5 analytical columns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E8EAF0"/>
                </a:solidFill>
              </a:rPr>
              <a:t>  •  Split data by metallicity_fe_h presence (absent n=60, present n=912)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E8EAF0"/>
                </a:solidFill>
              </a:rPr>
              <a:t>  •  Computed conditional missingness rates for each secondary column in each group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E8EAF0"/>
                </a:solidFill>
              </a:rPr>
              <a:t>  •  Panel 1: horizontal bar chart sorted by completeness (worst → best)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E8EAF0"/>
                </a:solidFill>
              </a:rPr>
              <a:t>  •  Panel 2: grouped bar chart showing conditional missingness with distance callout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E8EAF0"/>
                </a:solidFill>
              </a:rPr>
              <a:t>  •  Composed two-panel figure with shared dark-theme styling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E8EAF0"/>
                </a:solidFill>
              </a:rPr>
              <a:t>  •  Generated narrative PowerPoint deck from the same computed metrics</a:t>
            </a:r>
          </a:p>
          <a:p>
            <a:pPr algn="l"/>
            <a:r>
              <a:rPr sz="1300" b="0">
                <a:solidFill>
                  <a:srgbClr val="E8EAF0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9096A8"/>
                </a:solidFill>
              </a:rPr>
              <a:t>Both scripts are idempotent — re-running produces identical outputs.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