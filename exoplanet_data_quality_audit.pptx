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E2E8F0"/>
                </a:solidFill>
              </a:rPr>
              <a:t>Exoplanet Catalog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>
                <a:solidFill>
                  <a:srgbClr val="60A5FA"/>
                </a:solidFill>
              </a:rPr>
              <a:t>Data Quality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566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94A3B8"/>
                </a:solidFill>
              </a:rPr>
              <a:t>Understanding completeness, derived values, and recency gaps
before modeling or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</a:rPr>
              <a:t>Audience: Data Practitioner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2E8F0"/>
                </a:solidFill>
              </a:rPr>
              <a:t>The Dataset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11274552" cy="0"/>
          </a:xfrm>
          <a:prstGeom prst="line">
            <a:avLst/>
          </a:prstGeom>
          <a:ln w="12700">
            <a:solidFill>
              <a:srgbClr val="2A2D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28016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60A5FA"/>
                </a:solidFill>
              </a:rPr>
              <a:t>1,173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</a:rPr>
              <a:t>exoplanet records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8920" y="128016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60A5FA"/>
                </a:solidFill>
              </a:rPr>
              <a:t>972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19202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</a:rPr>
              <a:t>unique star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128016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60A5FA"/>
                </a:solidFill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9202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</a:rPr>
              <a:t>columns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59" y="128016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60A5FA"/>
                </a:solidFill>
              </a:rPr>
              <a:t>96%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59" y="19202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</a:rPr>
              <a:t>transit-detected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28016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60A5FA"/>
                </a:solidFill>
              </a:rPr>
              <a:t>2002–2025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19202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</a:rPr>
              <a:t>discovery years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14600"/>
            <a:ext cx="11247120" cy="445340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Discovery rate exploded after Kepler (2009) and again after TESS (2018). More planets ≠ more complete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2E8F0"/>
                </a:solidFill>
              </a:rPr>
              <a:t>Story Hypothesis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11274552" cy="0"/>
          </a:xfrm>
          <a:prstGeom prst="line">
            <a:avLst/>
          </a:prstGeom>
          <a:ln w="12700">
            <a:solidFill>
              <a:srgbClr val="2A2D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234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60A5FA"/>
                </a:solidFill>
              </a:rPr>
              <a:t>Completeness in this catalog is uneven and systematic.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4ADE80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ADE80"/>
                </a:solidFill>
              </a:rPr>
              <a:t>Missingness is structured, not random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st_met (metallicity) is missing 7× more than peer columns. Spectrometry costs more than photometry — the gaps reflect measurement economics.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ACC15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9184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ACC15"/>
                </a:solidFill>
              </a:rPr>
              <a:t>Measured ≠ computed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0332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pl_eqt_computed flags temperatures derived from stellar models vs. directly observed. A reliability dimension invisible without reading the schema.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6344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B923C"/>
                </a:solidFill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6344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B923C"/>
                </a:solidFill>
              </a:rPr>
              <a:t>Recent discoveries are shallower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100+ planets/year since 2023. High-volume survey planets have less follow-up data than earlier discoveries. More rows, thinner rows.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2E8F0"/>
                </a:solidFill>
              </a:rPr>
              <a:t>Column Completeness Profile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11274552" cy="0"/>
          </a:xfrm>
          <a:prstGeom prst="line">
            <a:avLst/>
          </a:prstGeom>
          <a:ln w="12700">
            <a:solidFill>
              <a:srgbClr val="2A2D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Covers claims A + B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11430000" cy="68441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</a:rPr>
              <a:t>st_met stands alone at 92.6% — 7× worse than peers.  pl_eqt bar is split: green = directly observed, yellow = derived from stellar model.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2E8F0"/>
                </a:solidFill>
              </a:rPr>
              <a:t>Completeness Over Time — Worst Offenders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11274552" cy="0"/>
          </a:xfrm>
          <a:prstGeom prst="line">
            <a:avLst/>
          </a:prstGeom>
          <a:ln w="12700">
            <a:solidFill>
              <a:srgbClr val="2A2D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Covers claim C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11430000" cy="68487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</a:rPr>
              <a:t>st_met completeness dips after TESS ramp-up (2020+). All columns show volatility pre-2009 due to small sample sizes (&lt;10 planets/yr).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2E8F0"/>
                </a:solidFill>
              </a:rPr>
              <a:t>Risks &amp; Caveats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11274552" cy="0"/>
          </a:xfrm>
          <a:prstGeom prst="line">
            <a:avLst/>
          </a:prstGeom>
          <a:ln w="12700">
            <a:solidFill>
              <a:srgbClr val="2A2D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143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7171"/>
                </a:solidFill>
              </a:rPr>
              <a:t>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14300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87171"/>
                </a:solidFill>
              </a:rPr>
              <a:t>Small year bins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4904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Pre-2009 has &lt;10 planets/year — percentages are noisy. Annotate or bin early years.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305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ACC15"/>
                </a:solidFill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305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ACC15"/>
                </a:solidFill>
              </a:rPr>
              <a:t>Computed ≠ wrong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7802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pl_eqt_computed is a reliability flag, not an error flag. Derived temperatures can be accurate.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11810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B923C"/>
                </a:solidFill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11810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</a:rPr>
              <a:t>Snapshot in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46557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Recent planets gain follow-up data over time. Completeness will improve — this is a point-in-time view.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0565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A5FA"/>
                </a:solidFill>
              </a:rPr>
              <a:t>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1056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0A5FA"/>
                </a:solidFill>
              </a:rPr>
              <a:t>Transit bias as confound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45312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96% transit-detected. Missingness may correlate with discovery method, not just recency.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09320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084FC"/>
                </a:solidFill>
              </a:rPr>
              <a:t>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09320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084FC"/>
                </a:solidFill>
              </a:rPr>
              <a:t>st_met outlier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4406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7% vs &lt;1% for peers is striking — could be a pipeline artifact. Flag for investigation before use as a feature.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2E8F0"/>
                </a:solidFill>
              </a:rPr>
              <a:t>What We Built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11274552" cy="0"/>
          </a:xfrm>
          <a:prstGeom prst="line">
            <a:avLst/>
          </a:prstGeom>
          <a:ln w="12700">
            <a:solidFill>
              <a:srgbClr val="2A2D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2344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4ADE80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3075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Computed per-column missingness rates and pl_eqt_computed split from 1,173 records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4ADE80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762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Computed per-year completeness for st_met, pl_orbsmax, and sy_dist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0A5FA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4495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Panel 1 — horizontal segmented bar chart (present / computed / missing)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40479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0A5FA"/>
                </a:solidFill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913631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Panel 2 — line chart with Kepler (2009) and TESS (2018) structural break annotations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091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C084FC"/>
                </a:solidFill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78231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7-slide deck documenting the full data quality story for a practitioner audience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All outputs are reproducible: run diagram.py for the PNG, build_ppt.py for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